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233A"/>
                </a:solidFill>
                <a:latin typeface="Meiryo"/>
                <a:ea typeface="メイリオ"/>
              </a:rPr>
              <a:t>付録：実録の測定方法 — 1テイクの流れ（全テイク共通の骨格）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463040" cy="41148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67004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2670048" cy="566928"/>
          </a:xfrm>
          <a:prstGeom prst="roundRect">
            <a:avLst>
              <a:gd name="adj" fmla="val 16000"/>
            </a:avLst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216152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メイリオ"/>
              </a:rPr>
              <a:t>① 儀式 90秒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874519"/>
            <a:ext cx="237744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録音開始→手拍子1回（時刻同期）→騒音計と並べ無言60秒・読み値は計測後にスレート（絶対較正）→ベル4方位×1打（方位校正）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3191256" y="2331720"/>
            <a:ext cx="292608" cy="274320"/>
          </a:xfrm>
          <a:prstGeom prst="triangle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65576" y="1143000"/>
            <a:ext cx="267004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65576" y="1143000"/>
            <a:ext cx="2670048" cy="566928"/>
          </a:xfrm>
          <a:prstGeom prst="roundRect">
            <a:avLst>
              <a:gd name="adj" fmla="val 16000"/>
            </a:avLst>
          </a:prstGeom>
          <a:solidFill>
            <a:srgbClr val="3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1216152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メイリオ"/>
              </a:rPr>
              <a:t>② 本番（無言）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874519"/>
            <a:ext cx="237744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立って待つだけ。録りっぱなしで1通過＝1テイク。統制試行は台本どおり協力者が走行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6153912" y="2331720"/>
            <a:ext cx="292608" cy="274320"/>
          </a:xfrm>
          <a:prstGeom prst="triangle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28231" y="1143000"/>
            <a:ext cx="267004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28231" y="1143000"/>
            <a:ext cx="2670048" cy="566928"/>
          </a:xfrm>
          <a:prstGeom prst="roundRect">
            <a:avLst>
              <a:gd name="adj" fmla="val 16000"/>
            </a:avLst>
          </a:prstGeom>
          <a:solidFill>
            <a:srgbClr val="3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59" y="1216152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メイリオ"/>
              </a:rPr>
              <a:t>③ 直後 30秒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1874519"/>
            <a:ext cx="237744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小声スレート「試行3終了・車1台・右から・徐行・横2m」→そのまま注釈CSVの1行に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9116567" y="2331720"/>
            <a:ext cx="292608" cy="274320"/>
          </a:xfrm>
          <a:prstGeom prst="triangle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90888" y="1143000"/>
            <a:ext cx="267004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90888" y="1143000"/>
            <a:ext cx="2670048" cy="566928"/>
          </a:xfrm>
          <a:prstGeom prst="roundRect">
            <a:avLst>
              <a:gd name="adj" fmla="val 16000"/>
            </a:avLst>
          </a:prstGeom>
          <a:solidFill>
            <a:srgbClr val="2F7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0615" y="1216152"/>
            <a:ext cx="2450591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メイリオ"/>
              </a:rPr>
              <a:t>④ 現場QC 5分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7192" y="1874519"/>
            <a:ext cx="237744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イヤホンで確認：4ch入っているか・音割れないか・校正音が録れたか →OKなら次の地点へ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60520"/>
            <a:ext cx="11185855" cy="2148840"/>
          </a:xfrm>
          <a:prstGeom prst="roundRect">
            <a:avLst>
              <a:gd name="adj" fmla="val 8000"/>
            </a:avLst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343400"/>
            <a:ext cx="7772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33A"/>
                </a:solidFill>
                <a:latin typeface="Meiryo"/>
                <a:ea typeface="メイリオ"/>
              </a:rPr>
              <a:t>撮れ高 計100本＋静止/歩行対比20本＋負例は露出時間100分以上（実働3日＋注釈1日・計画値）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00600"/>
            <a:ext cx="2084831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4901184"/>
            <a:ext cx="1865376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37E00"/>
                </a:solidFill>
                <a:latin typeface="Meiryo"/>
                <a:ea typeface="メイリオ"/>
              </a:rPr>
              <a:t>20本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358384"/>
            <a:ext cx="1865376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6233A"/>
                </a:solidFill>
                <a:latin typeface="Meiryo"/>
                <a:ea typeface="メイリオ"/>
              </a:rPr>
              <a:t>走行車の統制録音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caution帯10・safe帯10（後方6以上）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62656" y="4800600"/>
            <a:ext cx="2084831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72384" y="4901184"/>
            <a:ext cx="1865376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37E00"/>
                </a:solidFill>
                <a:latin typeface="Meiryo"/>
                <a:ea typeface="メイリオ"/>
              </a:rPr>
              <a:t>20本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72384" y="5358384"/>
            <a:ext cx="1865376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6233A"/>
                </a:solidFill>
                <a:latin typeface="Meiryo"/>
                <a:ea typeface="メイリオ"/>
              </a:rPr>
              <a:t>弱点検証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EV5・発進5・自転車5・見通し不良の角5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48071" y="4800600"/>
            <a:ext cx="2084831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57799" y="4901184"/>
            <a:ext cx="1865376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37E00"/>
                </a:solidFill>
                <a:latin typeface="Meiryo"/>
                <a:ea typeface="メイリオ"/>
              </a:rPr>
              <a:t>20本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799" y="5358384"/>
            <a:ext cx="1865376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6233A"/>
                </a:solidFill>
                <a:latin typeface="Meiryo"/>
                <a:ea typeface="メイリオ"/>
              </a:rPr>
              <a:t>負例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静穏・繁華街・雨上がり・風（誤警告率）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33488" y="4800600"/>
            <a:ext cx="2084831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4901184"/>
            <a:ext cx="1865376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37E00"/>
                </a:solidFill>
                <a:latin typeface="Meiryo"/>
                <a:ea typeface="メイリオ"/>
              </a:rPr>
              <a:t>20本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43215" y="5358384"/>
            <a:ext cx="1865376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6233A"/>
                </a:solidFill>
                <a:latin typeface="Meiryo"/>
                <a:ea typeface="メイリオ"/>
              </a:rPr>
              <a:t>固定・機会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踏切8＋バック音統制4＋機会枠8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18904" y="4800600"/>
            <a:ext cx="2084831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28632" y="4901184"/>
            <a:ext cx="1865376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37E00"/>
                </a:solidFill>
                <a:latin typeface="Meiryo"/>
                <a:ea typeface="メイリオ"/>
              </a:rPr>
              <a:t>20本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28632" y="5358384"/>
            <a:ext cx="1865376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16233A"/>
                </a:solidFill>
                <a:latin typeface="Meiryo"/>
                <a:ea typeface="メイリオ"/>
              </a:rPr>
              <a:t>キックボード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66707F"/>
                </a:solidFill>
                <a:latin typeface="Meiryo"/>
                <a:ea typeface="メイリオ"/>
              </a:rPr>
              <a:t>横1.0〜1.5mの至近帯を統制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233A"/>
                </a:solidFill>
                <a:latin typeface="Meiryo"/>
                <a:ea typeface="メイリオ"/>
              </a:rPr>
              <a:t>付録：実録の正解ラベル — 合成との役割分担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463040" cy="41148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48640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5486400" cy="603504"/>
          </a:xfrm>
          <a:prstGeom prst="roundRect">
            <a:avLst>
              <a:gd name="adj" fmla="val 12000"/>
            </a:avLst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120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Meiryo"/>
                <a:ea typeface="メイリオ"/>
              </a:rPr>
              <a:t>合成データ ＝ 精密な定規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4937760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>
                <a:solidFill>
                  <a:srgbClr val="3A4658"/>
                </a:solidFill>
                <a:latin typeface="Meiryo"/>
                <a:ea typeface="メイリオ"/>
              </a:rPr>
              <a:t>正解はシミュレーションが自動生成（誤差ゼロ）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・0.1秒ごとの（クラス・方位・仰角・距離）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・方向誤差 中央2.0°（車）、至近距離誤差 0.21m の精密検証はこちらの役割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・学習もすべて合成（1万200クリップ）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43000"/>
            <a:ext cx="54406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143000"/>
            <a:ext cx="5440680" cy="603504"/>
          </a:xfrm>
          <a:prstGeom prst="roundRect">
            <a:avLst>
              <a:gd name="adj" fmla="val 12000"/>
            </a:avLst>
          </a:prstGeom>
          <a:solidFill>
            <a:srgbClr val="B37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3444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Meiryo"/>
                <a:ea typeface="メイリオ"/>
              </a:rPr>
              <a:t>実録 ＝ 本物の物差し（テイク単位の粗い注釈）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965960"/>
            <a:ext cx="4983480" cy="1234440"/>
          </a:xfrm>
          <a:prstGeom prst="roundRect">
            <a:avLst>
              <a:gd name="adj" fmla="val 8000"/>
            </a:avLst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66344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A4658"/>
                </a:solidFill>
                <a:latin typeface="Consolas"/>
              </a:rPr>
              <a:t>trial=3, event_id=1, class=車, 象限=右,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A4658"/>
                </a:solidFill>
                <a:latin typeface="Consolas"/>
              </a:rPr>
              <a:t>t_cpa=00:41(±1s), 横距離=2m(コーン実測),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3A4658"/>
                </a:solidFill>
                <a:latin typeface="Consolas"/>
              </a:rPr>
              <a:t>速度=徐行(目視), LAeq=52.3, 装着=チェスト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383280"/>
            <a:ext cx="50292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3A4658"/>
                </a:solidFill>
                <a:latin typeface="Meiryo"/>
                <a:ea typeface="メイリオ"/>
              </a:rPr>
              <a:t>答え合わせする問い（粗さに合わせる）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・そのクラスを検出できたか／方向の象限は合っているか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・最接近の何秒前に警告が出たか／負例で誤警告は何回/時か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394960"/>
            <a:ext cx="11185855" cy="868680"/>
          </a:xfrm>
          <a:prstGeom prst="roundRect">
            <a:avLst>
              <a:gd name="adj" fmla="val 8000"/>
            </a:avLst>
          </a:prstGeom>
          <a:solidFill>
            <a:srgbClr val="F4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532120"/>
            <a:ext cx="1063721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233A"/>
                </a:solidFill>
                <a:latin typeface="Meiryo"/>
                <a:ea typeface="メイリオ"/>
              </a:rPr>
              <a:t>フレーム単位の x,y,z・距離を手入力することはない（人間には不可能・設計上も不要）。注釈は1イベント1行（複数イベントは行を追加）＋時刻合わせで半日の作業量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233A"/>
                </a:solidFill>
                <a:latin typeface="Meiryo"/>
                <a:ea typeface="メイリオ"/>
              </a:rPr>
              <a:t>付録：距離推定の統合 — 出力ヘッドに「距離」を1軸追加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463040" cy="41148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920240" cy="1371600"/>
          </a:xfrm>
          <a:prstGeom prst="roundRect">
            <a:avLst>
              <a:gd name="adj" fmla="val 8000"/>
            </a:avLst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192024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6233A"/>
                </a:solidFill>
                <a:latin typeface="Meiryo"/>
                <a:ea typeface="メイリオ"/>
              </a:rPr>
              <a:t>4ch FOA音声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（0.1秒フレーム）</a:t>
            </a:r>
          </a:p>
        </p:txBody>
      </p:sp>
      <p:sp>
        <p:nvSpPr>
          <p:cNvPr id="6" name="Isosceles Triangle 5"/>
          <p:cNvSpPr/>
          <p:nvPr/>
        </p:nvSpPr>
        <p:spPr>
          <a:xfrm rot="5400000">
            <a:off x="2514600" y="1920240"/>
            <a:ext cx="292608" cy="274320"/>
          </a:xfrm>
          <a:prstGeom prst="triangle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1280160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645920"/>
            <a:ext cx="246888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メイリオ"/>
              </a:rPr>
              <a:t>PSELDNets</a:t>
            </a:r>
          </a:p>
          <a:p>
            <a:pPr algn="ctr">
              <a:spcAft>
                <a:spcPts val="200"/>
              </a:spcAft>
            </a:pPr>
            <a:r>
              <a:rPr sz="1050" b="0">
                <a:solidFill>
                  <a:srgbClr val="D9DAD2"/>
                </a:solidFill>
                <a:latin typeface="Meiryo"/>
                <a:ea typeface="メイリオ"/>
              </a:rPr>
              <a:t>（事前学習済み・FT）</a:t>
            </a:r>
          </a:p>
        </p:txBody>
      </p:sp>
      <p:sp>
        <p:nvSpPr>
          <p:cNvPr id="9" name="Isosceles Triangle 8"/>
          <p:cNvSpPr/>
          <p:nvPr/>
        </p:nvSpPr>
        <p:spPr>
          <a:xfrm rot="5400000">
            <a:off x="5486400" y="1920240"/>
            <a:ext cx="292608" cy="274320"/>
          </a:xfrm>
          <a:prstGeom prst="triangle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051560"/>
            <a:ext cx="57607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6707F"/>
                </a:solidFill>
                <a:latin typeface="Meiryo"/>
                <a:ea typeface="メイリオ"/>
              </a:rPr>
              <a:t>出力（クラスごと・同時最大3トラック）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463040"/>
            <a:ext cx="960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トラック1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417320"/>
            <a:ext cx="512064" cy="457200"/>
          </a:xfrm>
          <a:prstGeom prst="roundRect">
            <a:avLst>
              <a:gd name="adj" fmla="val 8000"/>
            </a:avLst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472184"/>
            <a:ext cx="512064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6233A"/>
                </a:solidFill>
                <a:latin typeface="Meiryo"/>
                <a:ea typeface="メイリオ"/>
              </a:rPr>
              <a:t>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16367" y="1417320"/>
            <a:ext cx="512064" cy="457200"/>
          </a:xfrm>
          <a:prstGeom prst="roundRect">
            <a:avLst>
              <a:gd name="adj" fmla="val 8000"/>
            </a:avLst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6367" y="1472184"/>
            <a:ext cx="512064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6233A"/>
                </a:solidFill>
                <a:latin typeface="Meiryo"/>
                <a:ea typeface="メイリオ"/>
              </a:rPr>
              <a:t>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417320"/>
            <a:ext cx="512064" cy="457200"/>
          </a:xfrm>
          <a:prstGeom prst="roundRect">
            <a:avLst>
              <a:gd name="adj" fmla="val 8000"/>
            </a:avLst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3296" y="1472184"/>
            <a:ext cx="512064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6233A"/>
                </a:solidFill>
                <a:latin typeface="Meiryo"/>
                <a:ea typeface="メイリオ"/>
              </a:rPr>
              <a:t>z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1472184"/>
            <a:ext cx="7772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メイリオ"/>
              </a:rPr>
              <a:t>距離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029967"/>
            <a:ext cx="960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トラック2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1984248"/>
            <a:ext cx="512064" cy="457200"/>
          </a:xfrm>
          <a:prstGeom prst="roundRect">
            <a:avLst>
              <a:gd name="adj" fmla="val 8000"/>
            </a:avLst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2039112"/>
            <a:ext cx="512064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6233A"/>
                </a:solidFill>
                <a:latin typeface="Meiryo"/>
                <a:ea typeface="メイリオ"/>
              </a:rPr>
              <a:t>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16367" y="1984248"/>
            <a:ext cx="512064" cy="457200"/>
          </a:xfrm>
          <a:prstGeom prst="roundRect">
            <a:avLst>
              <a:gd name="adj" fmla="val 8000"/>
            </a:avLst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2039112"/>
            <a:ext cx="512064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6233A"/>
                </a:solidFill>
                <a:latin typeface="Meiryo"/>
                <a:ea typeface="メイリオ"/>
              </a:rPr>
              <a:t>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1984248"/>
            <a:ext cx="512064" cy="457200"/>
          </a:xfrm>
          <a:prstGeom prst="roundRect">
            <a:avLst>
              <a:gd name="adj" fmla="val 8000"/>
            </a:avLst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83296" y="2039112"/>
            <a:ext cx="512064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6233A"/>
                </a:solidFill>
                <a:latin typeface="Meiryo"/>
                <a:ea typeface="メイリオ"/>
              </a:rPr>
              <a:t>z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1984248"/>
            <a:ext cx="777240" cy="457200"/>
          </a:xfrm>
          <a:prstGeom prst="roundRect">
            <a:avLst>
              <a:gd name="adj" fmla="val 8000"/>
            </a:avLst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2039112"/>
            <a:ext cx="7772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メイリオ"/>
              </a:rPr>
              <a:t>距離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596896"/>
            <a:ext cx="960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トラック3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0" y="2551176"/>
            <a:ext cx="512064" cy="457200"/>
          </a:xfrm>
          <a:prstGeom prst="roundRect">
            <a:avLst>
              <a:gd name="adj" fmla="val 8000"/>
            </a:avLst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2606040"/>
            <a:ext cx="512064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6233A"/>
                </a:solidFill>
                <a:latin typeface="Meiryo"/>
                <a:ea typeface="メイリオ"/>
              </a:rPr>
              <a:t>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16367" y="2551176"/>
            <a:ext cx="512064" cy="457200"/>
          </a:xfrm>
          <a:prstGeom prst="roundRect">
            <a:avLst>
              <a:gd name="adj" fmla="val 8000"/>
            </a:avLst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16367" y="2606040"/>
            <a:ext cx="512064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6233A"/>
                </a:solidFill>
                <a:latin typeface="Meiryo"/>
                <a:ea typeface="メイリオ"/>
              </a:rPr>
              <a:t>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3296" y="2551176"/>
            <a:ext cx="512064" cy="457200"/>
          </a:xfrm>
          <a:prstGeom prst="roundRect">
            <a:avLst>
              <a:gd name="adj" fmla="val 8000"/>
            </a:avLst>
          </a:prstGeom>
          <a:solidFill>
            <a:srgbClr val="EFEFEA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83296" y="2606040"/>
            <a:ext cx="512064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6233A"/>
                </a:solidFill>
                <a:latin typeface="Meiryo"/>
                <a:ea typeface="メイリオ"/>
              </a:rPr>
              <a:t>z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32520" y="2551176"/>
            <a:ext cx="777240" cy="457200"/>
          </a:xfrm>
          <a:prstGeom prst="roundRect">
            <a:avLst>
              <a:gd name="adj" fmla="val 8000"/>
            </a:avLst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32520" y="2606040"/>
            <a:ext cx="777240" cy="34747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メイリオ"/>
              </a:rPr>
              <a:t>距離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1371600"/>
            <a:ext cx="219456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6233A"/>
                </a:solidFill>
                <a:latin typeface="Meiryo"/>
                <a:ea typeface="メイリオ"/>
              </a:rPr>
              <a:t>x,y,z＝矢印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向き＝方向／長さ＝確度</a:t>
            </a:r>
          </a:p>
          <a:p>
            <a:pPr algn="l">
              <a:spcAft>
                <a:spcPts val="300"/>
              </a:spcAft>
            </a:pPr>
            <a:r>
              <a:rPr sz="1150" b="1">
                <a:solidFill>
                  <a:srgbClr val="16233A"/>
                </a:solidFill>
                <a:latin typeface="Meiryo"/>
                <a:ea typeface="メイリオ"/>
              </a:rPr>
              <a:t>距離＝メートル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log符号化（近くほど細かく）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520440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3657600"/>
            <a:ext cx="3328416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B37E00"/>
                </a:solidFill>
                <a:latin typeface="Meiryo"/>
                <a:ea typeface="メイリオ"/>
              </a:rPr>
              <a:t>① 鳴っている時だけ学習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" y="4160520"/>
            <a:ext cx="3328416" cy="160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距離の誤差は音が活動中のフレームだけ採点（活動マスク）。無音区間で距離を当てさせない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89704" y="3520440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54296" y="3657600"/>
            <a:ext cx="3328416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B37E00"/>
                </a:solidFill>
                <a:latin typeface="Meiryo"/>
                <a:ea typeface="メイリオ"/>
              </a:rPr>
              <a:t>② 方向の学習を壊さない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54296" y="4160520"/>
            <a:ext cx="3328416" cy="160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出力と正解の対応付けは従来どおり方向(x,y,z)だけで決定し、距離誤差は後から重み付きで加算。距離学習を切った対照実験で等価性を確認済み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76488" y="3520440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3657600"/>
            <a:ext cx="3328416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B37E00"/>
                </a:solidFill>
                <a:latin typeface="Meiryo"/>
                <a:ea typeface="メイリオ"/>
              </a:rPr>
              <a:t>③ 10m頭打ちの教訓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4160520"/>
            <a:ext cx="3328416" cy="160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旧版は出力のtanhで距離が±10mに飽和。「距離だけ線形出力＋log符号化」に修正し飽和を解消（fold11遠方の開発評価ではGT303mのサイレンを検出。遠距離の距離精度の主張ではない）。至近5m以内は中央0.21m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080760"/>
            <a:ext cx="11185855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6707F"/>
                </a:solidFill>
                <a:latin typeface="Meiryo"/>
                <a:ea typeface="メイリオ"/>
              </a:rPr>
              <a:t>通知層はこの（クラス・方向・距離）を読み、1.5m×2フレーム連続→至近警告／≤3.0m→注意／&gt;3.2m→抑制 に振り分ける（同一物体は方位連結±60°の近似・完全な追跡ではない）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233A"/>
                </a:solidFill>
                <a:latin typeface="Meiryo"/>
                <a:ea typeface="メイリオ"/>
              </a:rPr>
              <a:t>付録：音だけでなぜ距離が分かるのか — 4つの手がかり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463040" cy="41148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267004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32588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B37E00"/>
                </a:solidFill>
                <a:latin typeface="Meiryo"/>
                <a:ea typeface="メイリオ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1874519"/>
            <a:ext cx="23774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33A"/>
                </a:solidFill>
                <a:latin typeface="Meiryo"/>
                <a:ea typeface="メイリオ"/>
              </a:rPr>
              <a:t>クラス条件つき音量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2468880"/>
            <a:ext cx="2377440" cy="1920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4658"/>
                </a:solidFill>
                <a:latin typeface="Meiryo"/>
                <a:ea typeface="メイリオ"/>
              </a:rPr>
              <a:t>音源の音量を法規・実測レンジに固定してあるので「サイレンなのに小さい＝遠い」が成立。種類が分かることが距離の前提＝同時推定型にした理由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188720"/>
            <a:ext cx="267004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32588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B37E00"/>
                </a:solidFill>
                <a:latin typeface="Meiryo"/>
                <a:ea typeface="メイリオ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874519"/>
            <a:ext cx="23774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33A"/>
                </a:solidFill>
                <a:latin typeface="Meiryo"/>
                <a:ea typeface="メイリオ"/>
              </a:rPr>
              <a:t>大気吸収の音色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468880"/>
            <a:ext cx="2377440" cy="1920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4658"/>
                </a:solidFill>
                <a:latin typeface="Meiryo"/>
                <a:ea typeface="メイリオ"/>
              </a:rPr>
              <a:t>高い音ほど空気に吸われる → 遠い音は「こもる」。音量が同じ60dBでも音色が違う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8231" y="1188720"/>
            <a:ext cx="267004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4536" y="132588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B37E00"/>
                </a:solidFill>
                <a:latin typeface="Meiryo"/>
                <a:ea typeface="メイリオ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1874519"/>
            <a:ext cx="23774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33A"/>
                </a:solidFill>
                <a:latin typeface="Meiryo"/>
                <a:ea typeface="メイリオ"/>
              </a:rPr>
              <a:t>動きの幾何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2468880"/>
            <a:ext cx="2377440" cy="1920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4658"/>
                </a:solidFill>
                <a:latin typeface="Meiryo"/>
                <a:ea typeface="メイリオ"/>
              </a:rPr>
              <a:t>近い音源ほど方位と音量の変化が速い（目の前を通る車は一瞬、遠くの車はゆっくり）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90888" y="1188720"/>
            <a:ext cx="2670048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37192" y="1325880"/>
            <a:ext cx="2377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B37E00"/>
                </a:solidFill>
                <a:latin typeface="Meiryo"/>
                <a:ea typeface="メイリオ"/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2" y="1874519"/>
            <a:ext cx="23774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6233A"/>
                </a:solidFill>
                <a:latin typeface="Meiryo"/>
                <a:ea typeface="メイリオ"/>
              </a:rPr>
              <a:t>地面反射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2468880"/>
            <a:ext cx="2377440" cy="1920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A4658"/>
                </a:solidFill>
                <a:latin typeface="Meiryo"/>
                <a:ea typeface="メイリオ"/>
              </a:rPr>
              <a:t>直接音と地面反射音の干渉パターンが距離で変わる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754880"/>
            <a:ext cx="11185855" cy="1508760"/>
          </a:xfrm>
          <a:prstGeom prst="roundRect">
            <a:avLst>
              <a:gd name="adj" fmla="val 8000"/>
            </a:avLst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919472"/>
            <a:ext cx="10637215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6233A"/>
                </a:solidFill>
                <a:latin typeface="Meiryo"/>
                <a:ea typeface="メイリオ"/>
              </a:rPr>
              <a:t>残る原理的な曖昧さ：同じクラス内の音量幅（車で約7dB ≒ 距離2倍分）→ 至近警告 約7割の一因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3A4658"/>
                </a:solidFill>
                <a:latin typeface="Meiryo"/>
                <a:ea typeface="メイリオ"/>
              </a:rPr>
              <a:t>9月のablationのうち「大気吸収なし」「地面反射なし」の2本は、手がかり②④の寄与をそれぞれ直接測る実験になっている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233A"/>
                </a:solidFill>
                <a:latin typeface="Meiryo"/>
                <a:ea typeface="メイリオ"/>
              </a:rPr>
              <a:t>付録：同一クラス複数台の問題（前回指摘）→ 解消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463040" cy="41148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512064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233A"/>
                </a:solidFill>
                <a:latin typeface="Meiryo"/>
                <a:ea typeface="メイリオ"/>
              </a:rPr>
              <a:t>車の検出率 vs 同時台数（評価1,800クリップ実測）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2476195"/>
            <a:ext cx="914400" cy="2187244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92147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233A"/>
                </a:solidFill>
                <a:latin typeface="Meiryo"/>
                <a:ea typeface="メイリオ"/>
              </a:rPr>
              <a:t>99.2%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736592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1台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2523743"/>
            <a:ext cx="914400" cy="2139696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39" y="2139695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233A"/>
                </a:solidFill>
                <a:latin typeface="Meiryo"/>
                <a:ea typeface="メイリオ"/>
              </a:rPr>
              <a:t>99.0%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39" y="4736592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2台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79" y="2452420"/>
            <a:ext cx="914400" cy="2211019"/>
          </a:xfrm>
          <a:prstGeom prst="rect">
            <a:avLst/>
          </a:prstGeom>
          <a:solidFill>
            <a:srgbClr val="E8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199" y="2068372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6233A"/>
                </a:solidFill>
                <a:latin typeface="Meiryo"/>
                <a:ea typeface="メイリオ"/>
              </a:rPr>
              <a:t>99.3%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199" y="4736592"/>
            <a:ext cx="12801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3A4658"/>
                </a:solidFill>
                <a:latin typeface="Meiryo"/>
                <a:ea typeface="メイリオ"/>
              </a:rPr>
              <a:t>3台以上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663440"/>
            <a:ext cx="4297680" cy="18288"/>
          </a:xfrm>
          <a:prstGeom prst="rect">
            <a:avLst/>
          </a:prstGeom>
          <a:solidFill>
            <a:srgbClr val="3A4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83480"/>
            <a:ext cx="45720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6707F"/>
                </a:solidFill>
                <a:latin typeface="Meiryo"/>
                <a:ea typeface="メイリオ"/>
              </a:rPr>
              <a:t>縦軸は90〜100%に拡大表示。台数によらずフラット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188720"/>
            <a:ext cx="57607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325880"/>
            <a:ext cx="539496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B37E00"/>
                </a:solidFill>
                <a:latin typeface="Meiryo"/>
                <a:ea typeface="メイリオ"/>
              </a:rPr>
              <a:t>原因と対策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原因は学習データに同一クラスの多重シーンが薄かったこと。複数車の同時シーンを追加し、追加の有無だけを変えた対照実験で効果を確定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337560"/>
            <a:ext cx="57607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474720"/>
            <a:ext cx="539496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>
                <a:solidFill>
                  <a:srgbClr val="B37E00"/>
                </a:solidFill>
                <a:latin typeface="Meiryo"/>
                <a:ea typeface="メイリオ"/>
              </a:rPr>
              <a:t>仕組み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3A4658"/>
                </a:solidFill>
                <a:latin typeface="Meiryo"/>
                <a:ea typeface="メイリオ"/>
              </a:rPr>
              <a:t>出力がクラスごとに最大3トラック（矢印3本）あり、学習時に出力と正解の対応付けを自動で解くため、同じクラスの車3台まで別々の方向・距離で同時に指せる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623560"/>
            <a:ext cx="11185855" cy="868680"/>
          </a:xfrm>
          <a:prstGeom prst="roundRect">
            <a:avLst>
              <a:gd name="adj" fmla="val 8000"/>
            </a:avLst>
          </a:prstGeom>
          <a:solidFill>
            <a:srgbClr val="F4E8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60720"/>
            <a:ext cx="10637215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233A"/>
                </a:solidFill>
                <a:latin typeface="Meiryo"/>
                <a:ea typeface="メイリオ"/>
              </a:rPr>
              <a:t>残る粒度の課題（正直に）：2台同時のフレームで「1台以上検出」99.92%（存在見逃し0.08%）、「2台として分離」は77.7% ＝ 見逃しはほぼ無いが完全分離は今後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