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4064000"/>
            <a:ext cx="5080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収録から採点までの流れ（計画）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4470400"/>
            <a:ext cx="18796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46600"/>
            <a:ext cx="1727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A526"/>
                </a:solidFill>
                <a:latin typeface="Meiryo"/>
                <a:ea typeface="メイリオ"/>
              </a:rPr>
              <a:t>① </a:t>
            </a:r>
            <a:r>
              <a:rPr sz="1150" b="1">
                <a:solidFill>
                  <a:srgbClr val="232B3E"/>
                </a:solidFill>
                <a:latin typeface="Meiryo"/>
                <a:ea typeface="メイリオ"/>
              </a:rPr>
              <a:t>機材レンタル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H3-VR・7泊8日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（この中で全工程）</a:t>
            </a:r>
          </a:p>
        </p:txBody>
      </p:sp>
      <p:sp>
        <p:nvSpPr>
          <p:cNvPr id="5" name="Isosceles Triangle 4"/>
          <p:cNvSpPr/>
          <p:nvPr/>
        </p:nvSpPr>
        <p:spPr>
          <a:xfrm rot="5400000">
            <a:off x="2755900" y="4953000"/>
            <a:ext cx="203200" cy="203200"/>
          </a:xfrm>
          <a:prstGeom prst="triangl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97200" y="4470400"/>
            <a:ext cx="18796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73400" y="4546600"/>
            <a:ext cx="1727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A526"/>
                </a:solidFill>
                <a:latin typeface="Meiryo"/>
                <a:ea typeface="メイリオ"/>
              </a:rPr>
              <a:t>② </a:t>
            </a:r>
            <a:r>
              <a:rPr sz="1150" b="1">
                <a:solidFill>
                  <a:srgbClr val="232B3E"/>
                </a:solidFill>
                <a:latin typeface="Meiryo"/>
                <a:ea typeface="メイリオ"/>
              </a:rPr>
              <a:t>初日リハ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設定を固定し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試し録りを機械チェック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4914900" y="4953000"/>
            <a:ext cx="203200" cy="203200"/>
          </a:xfrm>
          <a:prstGeom prst="triangl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56200" y="4470400"/>
            <a:ext cx="18796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2400" y="4546600"/>
            <a:ext cx="1727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A526"/>
                </a:solidFill>
                <a:latin typeface="Meiryo"/>
                <a:ea typeface="メイリオ"/>
              </a:rPr>
              <a:t>③ </a:t>
            </a:r>
            <a:r>
              <a:rPr sz="1150" b="1">
                <a:solidFill>
                  <a:srgbClr val="232B3E"/>
                </a:solidFill>
                <a:latin typeface="Meiryo"/>
                <a:ea typeface="メイリオ"/>
              </a:rPr>
              <a:t>統制録音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大学駐車場で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台本どおり反復（半日）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7073900" y="4953000"/>
            <a:ext cx="203200" cy="203200"/>
          </a:xfrm>
          <a:prstGeom prst="triangl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4470400"/>
            <a:ext cx="18796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0" y="4546600"/>
            <a:ext cx="1727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A526"/>
                </a:solidFill>
                <a:latin typeface="Meiryo"/>
                <a:ea typeface="メイリオ"/>
              </a:rPr>
              <a:t>④ </a:t>
            </a:r>
            <a:r>
              <a:rPr sz="1150" b="1">
                <a:solidFill>
                  <a:srgbClr val="232B3E"/>
                </a:solidFill>
                <a:latin typeface="Meiryo"/>
                <a:ea typeface="メイリオ"/>
              </a:rPr>
              <a:t>機会捕捉＋負例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徒歩ルートで随時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（サイレンは最優先）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9232900" y="4953000"/>
            <a:ext cx="203200" cy="203200"/>
          </a:xfrm>
          <a:prstGeom prst="triangl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74200" y="4470400"/>
            <a:ext cx="18796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0400" y="4546600"/>
            <a:ext cx="1727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A526"/>
                </a:solidFill>
                <a:latin typeface="Meiryo"/>
                <a:ea typeface="メイリオ"/>
              </a:rPr>
              <a:t>⑤ </a:t>
            </a:r>
            <a:r>
              <a:rPr sz="1150" b="1">
                <a:solidFill>
                  <a:srgbClr val="232B3E"/>
                </a:solidFill>
                <a:latin typeface="Meiryo"/>
                <a:ea typeface="メイリオ"/>
              </a:rPr>
              <a:t>変換・注釈・採点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現地メモ→注釈CSV</a:t>
            </a:r>
          </a:p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→自動採点（半日）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5791200"/>
            <a:ext cx="10541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22838"/>
                </a:solidFill>
                <a:latin typeface="Meiryo"/>
                <a:ea typeface="メイリオ"/>
              </a:rPr>
              <a:t>実働3日＋注釈1日・計120本＝共通100＋歩行対比20（計画値）</a:t>
            </a:r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　※1テイクの具体的な手順は付録「実録の流れ」を参照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