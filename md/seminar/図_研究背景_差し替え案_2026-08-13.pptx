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25603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案A レーダー型（矢印＋波紋）— スライド上で Ctrl+A → コピーして貼り付け → Ctrl+G でグループ化</a:t>
            </a:r>
          </a:p>
        </p:txBody>
      </p:sp>
      <p:sp>
        <p:nvSpPr>
          <p:cNvPr id="3" name="Oval 2"/>
          <p:cNvSpPr/>
          <p:nvPr/>
        </p:nvSpPr>
        <p:spPr>
          <a:xfrm>
            <a:off x="5319064" y="2514600"/>
            <a:ext cx="1554480" cy="1554480"/>
          </a:xfrm>
          <a:prstGeom prst="ellipse">
            <a:avLst/>
          </a:prstGeom>
          <a:noFill/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70424" y="1965960"/>
            <a:ext cx="2651760" cy="2651760"/>
          </a:xfrm>
          <a:prstGeom prst="ellipse">
            <a:avLst/>
          </a:prstGeom>
          <a:noFill/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21784" y="1417320"/>
            <a:ext cx="3749039" cy="3749039"/>
          </a:xfrm>
          <a:prstGeom prst="ellipse">
            <a:avLst/>
          </a:prstGeom>
          <a:noFill/>
          <a:ln w="12700">
            <a:solidFill>
              <a:srgbClr val="D9DA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102960" y="1417320"/>
            <a:ext cx="1986689" cy="1874520"/>
          </a:xfrm>
          <a:custGeom>
            <a:avLst/>
            <a:gdLst/>
            <a:ahLst/>
            <a:cxnLst/>
            <a:rect l="l" t="t" r="r" b="b"/>
            <a:pathLst>
              <a:path w="1986689" h="1874520">
                <a:moveTo>
                  <a:pt x="993344" y="1874520"/>
                </a:moveTo>
                <a:lnTo>
                  <a:pt x="1986689" y="284836"/>
                </a:lnTo>
                <a:lnTo>
                  <a:pt x="1911652" y="240342"/>
                </a:lnTo>
                <a:lnTo>
                  <a:pt x="1834627" y="199387"/>
                </a:lnTo>
                <a:lnTo>
                  <a:pt x="1755780" y="162060"/>
                </a:lnTo>
                <a:lnTo>
                  <a:pt x="1675282" y="128442"/>
                </a:lnTo>
                <a:lnTo>
                  <a:pt x="1593307" y="98606"/>
                </a:lnTo>
                <a:lnTo>
                  <a:pt x="1510032" y="72615"/>
                </a:lnTo>
                <a:lnTo>
                  <a:pt x="1425638" y="50527"/>
                </a:lnTo>
                <a:lnTo>
                  <a:pt x="1340308" y="32390"/>
                </a:lnTo>
                <a:lnTo>
                  <a:pt x="1254227" y="18242"/>
                </a:lnTo>
                <a:lnTo>
                  <a:pt x="1167581" y="8115"/>
                </a:lnTo>
                <a:lnTo>
                  <a:pt x="1080557" y="2029"/>
                </a:lnTo>
                <a:lnTo>
                  <a:pt x="993344" y="0"/>
                </a:lnTo>
                <a:lnTo>
                  <a:pt x="906132" y="2029"/>
                </a:lnTo>
                <a:lnTo>
                  <a:pt x="819108" y="8115"/>
                </a:lnTo>
                <a:lnTo>
                  <a:pt x="732462" y="18242"/>
                </a:lnTo>
                <a:lnTo>
                  <a:pt x="646380" y="32390"/>
                </a:lnTo>
                <a:lnTo>
                  <a:pt x="561050" y="50527"/>
                </a:lnTo>
                <a:lnTo>
                  <a:pt x="476657" y="72615"/>
                </a:lnTo>
                <a:lnTo>
                  <a:pt x="393382" y="98606"/>
                </a:lnTo>
                <a:lnTo>
                  <a:pt x="311407" y="128442"/>
                </a:lnTo>
                <a:lnTo>
                  <a:pt x="230908" y="162060"/>
                </a:lnTo>
                <a:lnTo>
                  <a:pt x="152061" y="199387"/>
                </a:lnTo>
                <a:lnTo>
                  <a:pt x="75036" y="240342"/>
                </a:lnTo>
                <a:lnTo>
                  <a:pt x="0" y="284836"/>
                </a:lnTo>
                <a:close/>
              </a:path>
            </a:pathLst>
          </a:custGeom>
          <a:solidFill>
            <a:srgbClr val="DE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6024" y="1645920"/>
            <a:ext cx="1554480" cy="25603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前方視野（見える範囲）</a:t>
            </a:r>
          </a:p>
        </p:txBody>
      </p:sp>
      <p:sp>
        <p:nvSpPr>
          <p:cNvPr id="8" name="Right Arrow 7"/>
          <p:cNvSpPr/>
          <p:nvPr/>
        </p:nvSpPr>
        <p:spPr>
          <a:xfrm rot="5400000">
            <a:off x="5730544" y="1856231"/>
            <a:ext cx="731520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14008" y="1362456"/>
            <a:ext cx="164592" cy="164592"/>
          </a:xfrm>
          <a:prstGeom prst="ellipse">
            <a:avLst/>
          </a:prstGeom>
          <a:noFill/>
          <a:ln w="17780">
            <a:solidFill>
              <a:srgbClr val="D170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31712" y="1280160"/>
            <a:ext cx="329184" cy="329184"/>
          </a:xfrm>
          <a:prstGeom prst="ellipse">
            <a:avLst/>
          </a:prstGeom>
          <a:noFill/>
          <a:ln w="17780">
            <a:solidFill>
              <a:srgbClr val="DFA2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64300" y="1412748"/>
            <a:ext cx="64008" cy="64008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70524" y="7955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サイレン</a:t>
            </a:r>
          </a:p>
        </p:txBody>
      </p:sp>
      <p:sp>
        <p:nvSpPr>
          <p:cNvPr id="13" name="Right Arrow 12"/>
          <p:cNvSpPr/>
          <p:nvPr/>
        </p:nvSpPr>
        <p:spPr>
          <a:xfrm rot="19800000">
            <a:off x="4582299" y="3845052"/>
            <a:ext cx="731520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14383" y="4133088"/>
            <a:ext cx="164592" cy="164592"/>
          </a:xfrm>
          <a:prstGeom prst="ellipse">
            <a:avLst/>
          </a:prstGeom>
          <a:noFill/>
          <a:ln w="17780">
            <a:solidFill>
              <a:srgbClr val="D170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2087" y="4050792"/>
            <a:ext cx="329184" cy="329184"/>
          </a:xfrm>
          <a:prstGeom prst="ellipse">
            <a:avLst/>
          </a:prstGeom>
          <a:noFill/>
          <a:ln w="17780">
            <a:solidFill>
              <a:srgbClr val="DFA2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64675" y="4183380"/>
            <a:ext cx="64008" cy="64008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51196" y="429310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緊急車両</a:t>
            </a:r>
          </a:p>
        </p:txBody>
      </p:sp>
      <p:sp>
        <p:nvSpPr>
          <p:cNvPr id="18" name="Right Arrow 17"/>
          <p:cNvSpPr/>
          <p:nvPr/>
        </p:nvSpPr>
        <p:spPr>
          <a:xfrm rot="16680000">
            <a:off x="5546017" y="4495088"/>
            <a:ext cx="731520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56943" y="5038656"/>
            <a:ext cx="164592" cy="164592"/>
          </a:xfrm>
          <a:prstGeom prst="ellipse">
            <a:avLst/>
          </a:prstGeom>
          <a:noFill/>
          <a:ln w="17780">
            <a:solidFill>
              <a:srgbClr val="6972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74647" y="4956360"/>
            <a:ext cx="329184" cy="329184"/>
          </a:xfrm>
          <a:prstGeom prst="ellipse">
            <a:avLst/>
          </a:prstGeom>
          <a:noFill/>
          <a:ln w="17780">
            <a:solidFill>
              <a:srgbClr val="9EA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07235" y="5088948"/>
            <a:ext cx="64008" cy="64008"/>
          </a:xfrm>
          <a:prstGeom prst="ellipse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46012" y="5436275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23" name="Right Arrow 22"/>
          <p:cNvSpPr/>
          <p:nvPr/>
        </p:nvSpPr>
        <p:spPr>
          <a:xfrm rot="12720000">
            <a:off x="6854954" y="3884721"/>
            <a:ext cx="731520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0428" y="4188351"/>
            <a:ext cx="164592" cy="164592"/>
          </a:xfrm>
          <a:prstGeom prst="ellipse">
            <a:avLst/>
          </a:prstGeom>
          <a:noFill/>
          <a:ln w="17780">
            <a:solidFill>
              <a:srgbClr val="ECB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132" y="4106055"/>
            <a:ext cx="329184" cy="329184"/>
          </a:xfrm>
          <a:prstGeom prst="ellipse">
            <a:avLst/>
          </a:prstGeom>
          <a:noFill/>
          <a:ln w="17780">
            <a:solidFill>
              <a:srgbClr val="F0CF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0720" y="4238643"/>
            <a:ext cx="64008" cy="64008"/>
          </a:xfrm>
          <a:prstGeom prst="ellips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47935" y="4362871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自転車</a:t>
            </a:r>
          </a:p>
        </p:txBody>
      </p:sp>
      <p:sp>
        <p:nvSpPr>
          <p:cNvPr id="28" name="Oval 27"/>
          <p:cNvSpPr/>
          <p:nvPr/>
        </p:nvSpPr>
        <p:spPr>
          <a:xfrm>
            <a:off x="6018580" y="3122676"/>
            <a:ext cx="155448" cy="155448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68288" y="3296412"/>
            <a:ext cx="256032" cy="173736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39104" y="3474720"/>
            <a:ext cx="914400" cy="219456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3A4658"/>
                </a:solidFill>
                <a:latin typeface="Meiryo"/>
                <a:ea typeface="メイリオ"/>
              </a:rPr>
              <a:t>ユーザー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8864" y="5833872"/>
            <a:ext cx="4754880" cy="25603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視覚がカバーできるのは前方の扇だけ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8864" y="6080760"/>
            <a:ext cx="4754880" cy="25603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ctr"/>
            <a:r>
              <a:rPr sz="1050" b="1">
                <a:solidFill>
                  <a:srgbClr val="C4432B"/>
                </a:solidFill>
                <a:latin typeface="Meiryo"/>
                <a:ea typeface="メイリオ"/>
              </a:rPr>
              <a:t>音の危険は全方位から届く — その察知は聴覚頼み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25603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案B 波紋型（音の広がりだけで見せるミニマル版）</a:t>
            </a:r>
          </a:p>
        </p:txBody>
      </p:sp>
      <p:sp>
        <p:nvSpPr>
          <p:cNvPr id="3" name="Oval 2"/>
          <p:cNvSpPr/>
          <p:nvPr/>
        </p:nvSpPr>
        <p:spPr>
          <a:xfrm>
            <a:off x="4221784" y="1417320"/>
            <a:ext cx="3749039" cy="3749039"/>
          </a:xfrm>
          <a:prstGeom prst="ellipse">
            <a:avLst/>
          </a:prstGeom>
          <a:noFill/>
          <a:ln w="15875">
            <a:solidFill>
              <a:srgbClr val="D9DA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102960" y="1417320"/>
            <a:ext cx="1986689" cy="1874520"/>
          </a:xfrm>
          <a:custGeom>
            <a:avLst/>
            <a:gdLst/>
            <a:ahLst/>
            <a:cxnLst/>
            <a:rect l="l" t="t" r="r" b="b"/>
            <a:pathLst>
              <a:path w="1986689" h="1874520">
                <a:moveTo>
                  <a:pt x="993344" y="1874520"/>
                </a:moveTo>
                <a:lnTo>
                  <a:pt x="1986689" y="284836"/>
                </a:lnTo>
                <a:lnTo>
                  <a:pt x="1911652" y="240342"/>
                </a:lnTo>
                <a:lnTo>
                  <a:pt x="1834627" y="199387"/>
                </a:lnTo>
                <a:lnTo>
                  <a:pt x="1755780" y="162060"/>
                </a:lnTo>
                <a:lnTo>
                  <a:pt x="1675282" y="128442"/>
                </a:lnTo>
                <a:lnTo>
                  <a:pt x="1593307" y="98606"/>
                </a:lnTo>
                <a:lnTo>
                  <a:pt x="1510032" y="72615"/>
                </a:lnTo>
                <a:lnTo>
                  <a:pt x="1425638" y="50527"/>
                </a:lnTo>
                <a:lnTo>
                  <a:pt x="1340308" y="32390"/>
                </a:lnTo>
                <a:lnTo>
                  <a:pt x="1254227" y="18242"/>
                </a:lnTo>
                <a:lnTo>
                  <a:pt x="1167581" y="8115"/>
                </a:lnTo>
                <a:lnTo>
                  <a:pt x="1080557" y="2029"/>
                </a:lnTo>
                <a:lnTo>
                  <a:pt x="993344" y="0"/>
                </a:lnTo>
                <a:lnTo>
                  <a:pt x="906132" y="2029"/>
                </a:lnTo>
                <a:lnTo>
                  <a:pt x="819108" y="8115"/>
                </a:lnTo>
                <a:lnTo>
                  <a:pt x="732462" y="18242"/>
                </a:lnTo>
                <a:lnTo>
                  <a:pt x="646380" y="32390"/>
                </a:lnTo>
                <a:lnTo>
                  <a:pt x="561050" y="50527"/>
                </a:lnTo>
                <a:lnTo>
                  <a:pt x="476657" y="72615"/>
                </a:lnTo>
                <a:lnTo>
                  <a:pt x="393382" y="98606"/>
                </a:lnTo>
                <a:lnTo>
                  <a:pt x="311407" y="128442"/>
                </a:lnTo>
                <a:lnTo>
                  <a:pt x="230908" y="162060"/>
                </a:lnTo>
                <a:lnTo>
                  <a:pt x="152061" y="199387"/>
                </a:lnTo>
                <a:lnTo>
                  <a:pt x="75036" y="240342"/>
                </a:lnTo>
                <a:lnTo>
                  <a:pt x="0" y="284836"/>
                </a:lnTo>
                <a:close/>
              </a:path>
            </a:pathLst>
          </a:custGeom>
          <a:solidFill>
            <a:srgbClr val="DE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56024" y="1645920"/>
            <a:ext cx="1554480" cy="25603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前方視野（見える範囲）</a:t>
            </a:r>
          </a:p>
        </p:txBody>
      </p:sp>
      <p:sp>
        <p:nvSpPr>
          <p:cNvPr id="6" name="Oval 5"/>
          <p:cNvSpPr/>
          <p:nvPr/>
        </p:nvSpPr>
        <p:spPr>
          <a:xfrm>
            <a:off x="5995720" y="1773935"/>
            <a:ext cx="201168" cy="201168"/>
          </a:xfrm>
          <a:prstGeom prst="ellipse">
            <a:avLst/>
          </a:prstGeom>
          <a:noFill/>
          <a:ln w="17780">
            <a:solidFill>
              <a:srgbClr val="D170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6848" y="1655063"/>
            <a:ext cx="438912" cy="438912"/>
          </a:xfrm>
          <a:prstGeom prst="ellipse">
            <a:avLst/>
          </a:prstGeom>
          <a:noFill/>
          <a:ln w="17780">
            <a:solidFill>
              <a:srgbClr val="DFA2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57976" y="1536191"/>
            <a:ext cx="676656" cy="676656"/>
          </a:xfrm>
          <a:prstGeom prst="ellipse">
            <a:avLst/>
          </a:prstGeom>
          <a:noFill/>
          <a:ln w="17780">
            <a:solidFill>
              <a:srgbClr val="ED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64300" y="1842515"/>
            <a:ext cx="64008" cy="64008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0524" y="886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サイレン</a:t>
            </a:r>
          </a:p>
        </p:txBody>
      </p:sp>
      <p:sp>
        <p:nvSpPr>
          <p:cNvPr id="11" name="Oval 10"/>
          <p:cNvSpPr/>
          <p:nvPr/>
        </p:nvSpPr>
        <p:spPr>
          <a:xfrm>
            <a:off x="4768285" y="3899915"/>
            <a:ext cx="201168" cy="201168"/>
          </a:xfrm>
          <a:prstGeom prst="ellipse">
            <a:avLst/>
          </a:prstGeom>
          <a:noFill/>
          <a:ln w="17780">
            <a:solidFill>
              <a:srgbClr val="D170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9413" y="3781044"/>
            <a:ext cx="438912" cy="438912"/>
          </a:xfrm>
          <a:prstGeom prst="ellipse">
            <a:avLst/>
          </a:prstGeom>
          <a:noFill/>
          <a:ln w="17780">
            <a:solidFill>
              <a:srgbClr val="DFA2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30541" y="3662172"/>
            <a:ext cx="676656" cy="676656"/>
          </a:xfrm>
          <a:prstGeom prst="ellipse">
            <a:avLst/>
          </a:prstGeom>
          <a:noFill/>
          <a:ln w="17780">
            <a:solidFill>
              <a:srgbClr val="ED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36865" y="3968496"/>
            <a:ext cx="64008" cy="64008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30385" y="424738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緊急車両</a:t>
            </a:r>
          </a:p>
        </p:txBody>
      </p:sp>
      <p:sp>
        <p:nvSpPr>
          <p:cNvPr id="16" name="Oval 15"/>
          <p:cNvSpPr/>
          <p:nvPr/>
        </p:nvSpPr>
        <p:spPr>
          <a:xfrm>
            <a:off x="5798467" y="4594782"/>
            <a:ext cx="201168" cy="201168"/>
          </a:xfrm>
          <a:prstGeom prst="ellipse">
            <a:avLst/>
          </a:prstGeom>
          <a:noFill/>
          <a:ln w="17780">
            <a:solidFill>
              <a:srgbClr val="6972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79595" y="4475910"/>
            <a:ext cx="438912" cy="438912"/>
          </a:xfrm>
          <a:prstGeom prst="ellipse">
            <a:avLst/>
          </a:prstGeom>
          <a:noFill/>
          <a:ln w="17780">
            <a:solidFill>
              <a:srgbClr val="9EA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60723" y="4357038"/>
            <a:ext cx="676656" cy="676656"/>
          </a:xfrm>
          <a:prstGeom prst="ellipse">
            <a:avLst/>
          </a:prstGeom>
          <a:noFill/>
          <a:ln w="17780">
            <a:solidFill>
              <a:srgbClr val="D3D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67047" y="4663362"/>
            <a:ext cx="64008" cy="64008"/>
          </a:xfrm>
          <a:prstGeom prst="ellipse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58738" y="5345725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21" name="Oval 20"/>
          <p:cNvSpPr/>
          <p:nvPr/>
        </p:nvSpPr>
        <p:spPr>
          <a:xfrm>
            <a:off x="7197676" y="3942321"/>
            <a:ext cx="201168" cy="201168"/>
          </a:xfrm>
          <a:prstGeom prst="ellipse">
            <a:avLst/>
          </a:prstGeom>
          <a:noFill/>
          <a:ln w="17780">
            <a:solidFill>
              <a:srgbClr val="ECB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78804" y="3823449"/>
            <a:ext cx="438912" cy="438912"/>
          </a:xfrm>
          <a:prstGeom prst="ellipse">
            <a:avLst/>
          </a:prstGeom>
          <a:noFill/>
          <a:ln w="17780">
            <a:solidFill>
              <a:srgbClr val="F0CF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59932" y="3704577"/>
            <a:ext cx="676656" cy="676656"/>
          </a:xfrm>
          <a:prstGeom prst="ellipse">
            <a:avLst/>
          </a:prstGeom>
          <a:noFill/>
          <a:ln w="17780">
            <a:solidFill>
              <a:srgbClr val="F4E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66256" y="4010901"/>
            <a:ext cx="64008" cy="64008"/>
          </a:xfrm>
          <a:prstGeom prst="ellips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70389" y="4314415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自転車</a:t>
            </a:r>
          </a:p>
        </p:txBody>
      </p:sp>
      <p:sp>
        <p:nvSpPr>
          <p:cNvPr id="26" name="Oval 25"/>
          <p:cNvSpPr/>
          <p:nvPr/>
        </p:nvSpPr>
        <p:spPr>
          <a:xfrm>
            <a:off x="6018580" y="3122676"/>
            <a:ext cx="155448" cy="155448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68288" y="3296412"/>
            <a:ext cx="256032" cy="173736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39104" y="3474720"/>
            <a:ext cx="914400" cy="219456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3A4658"/>
                </a:solidFill>
                <a:latin typeface="Meiryo"/>
                <a:ea typeface="メイリオ"/>
              </a:rPr>
              <a:t>ユーザー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8864" y="5833872"/>
            <a:ext cx="4754880" cy="256032"/>
          </a:xfrm>
          <a:prstGeom prst="rect">
            <a:avLst/>
          </a:prstGeom>
          <a:noFill/>
        </p:spPr>
        <p:txBody>
          <a:bodyPr wrap="none" anchor="ctr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見えるのは前方だけ／音は全方位に広がって届く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