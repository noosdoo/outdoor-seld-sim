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233A"/>
                </a:solidFill>
                <a:latin typeface="Meiryo"/>
                <a:ea typeface="メイリオ"/>
              </a:rPr>
              <a:t>付録：実録の流れ 1/3 — 準備は家で終わらせる（例：見通し不良の交差点）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463040" cy="41148"/>
          </a:xfrm>
          <a:prstGeom prst="rect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024128"/>
            <a:ext cx="5440680" cy="5440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152144"/>
            <a:ext cx="6858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B37E00"/>
                </a:solidFill>
                <a:latin typeface="Meiryo"/>
                <a:ea typeface="メイリオ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6152" y="1243584"/>
            <a:ext cx="35661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6233A"/>
                </a:solidFill>
                <a:latin typeface="Meiryo"/>
                <a:ea typeface="メイリオ"/>
              </a:rPr>
              <a:t>前日・家で全部設定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27448" y="1207008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27448" y="1243584"/>
            <a:ext cx="10515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前日15分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1700784"/>
            <a:ext cx="5038344" cy="3246120"/>
          </a:xfrm>
          <a:prstGeom prst="rect">
            <a:avLst/>
          </a:prstGeom>
          <a:solidFill>
            <a:srgbClr val="EF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2688" y="4306824"/>
            <a:ext cx="4581144" cy="64008"/>
          </a:xfrm>
          <a:prstGeom prst="rect">
            <a:avLst/>
          </a:prstGeom>
          <a:solidFill>
            <a:srgbClr val="D9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15568" y="3255264"/>
            <a:ext cx="1371600" cy="960120"/>
          </a:xfrm>
          <a:prstGeom prst="rect">
            <a:avLst/>
          </a:prstGeom>
          <a:solidFill>
            <a:srgbClr val="E7EBF2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8408" y="4215384"/>
            <a:ext cx="1645920" cy="109728"/>
          </a:xfrm>
          <a:prstGeom prst="rect">
            <a:avLst/>
          </a:prstGeom>
          <a:solidFill>
            <a:srgbClr val="C2C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52928" y="3483864"/>
            <a:ext cx="566928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6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85515" y="3643884"/>
            <a:ext cx="64008" cy="64008"/>
          </a:xfrm>
          <a:prstGeom prst="ellipse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223259" y="3643884"/>
            <a:ext cx="64008" cy="64008"/>
          </a:xfrm>
          <a:prstGeom prst="ellipse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85515" y="3826764"/>
            <a:ext cx="64008" cy="64008"/>
          </a:xfrm>
          <a:prstGeom prst="ellipse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223259" y="3826764"/>
            <a:ext cx="64008" cy="64008"/>
          </a:xfrm>
          <a:prstGeom prst="ellipse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35224" y="4078224"/>
            <a:ext cx="402336" cy="146304"/>
          </a:xfrm>
          <a:prstGeom prst="rect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75887" y="2020824"/>
            <a:ext cx="1874519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E8A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13048" y="2157984"/>
            <a:ext cx="164592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6233A"/>
                </a:solidFill>
                <a:latin typeface="Meiryo"/>
                <a:ea typeface="メイリオ"/>
              </a:rPr>
              <a:t>設定チェック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3A4658"/>
                </a:solidFill>
                <a:latin typeface="Meiryo"/>
                <a:ea typeface="メイリオ"/>
              </a:rPr>
              <a:t>☑ AmbiX 4ch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3A4658"/>
                </a:solidFill>
                <a:latin typeface="Meiryo"/>
                <a:ea typeface="メイリオ"/>
              </a:rPr>
              <a:t>☑ 96kHz / 24bit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3A4658"/>
                </a:solidFill>
                <a:latin typeface="Meiryo"/>
                <a:ea typeface="メイリオ"/>
              </a:rPr>
              <a:t>☑ ゲイン固定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3A4658"/>
                </a:solidFill>
                <a:latin typeface="Meiryo"/>
                <a:ea typeface="メイリオ"/>
              </a:rPr>
              <a:t>☑ Lo Cut OFF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3A4658"/>
                </a:solidFill>
                <a:latin typeface="Meiryo"/>
                <a:ea typeface="メイリオ"/>
              </a:rPr>
              <a:t>☑ 地図にピン5〜8個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2020824"/>
            <a:ext cx="237744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66707F"/>
                </a:solidFill>
                <a:latin typeface="Meiryo"/>
                <a:ea typeface="メイリオ"/>
              </a:rPr>
              <a:t>レコーダー設定は家で固定。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66707F"/>
                </a:solidFill>
                <a:latin typeface="Meiryo"/>
                <a:ea typeface="メイリオ"/>
              </a:rPr>
              <a:t>現地で押すのはRECだけ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5120640"/>
            <a:ext cx="5038344" cy="1234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A4658"/>
                </a:solidFill>
                <a:latin typeface="Meiryo"/>
                <a:ea typeface="メイリオ"/>
              </a:rPr>
              <a:t>ロケハンは散歩1回（地図アプリにピンを立てるだけ）。持ち物はリュック1個：H3-VR＋風防・ハーネス・騒音計・ベル・スマホ・電池/SD・イヤホンの8点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024128"/>
            <a:ext cx="5440680" cy="5440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7" y="1152144"/>
            <a:ext cx="6858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B37E00"/>
                </a:solidFill>
                <a:latin typeface="Meiryo"/>
                <a:ea typeface="メイリオ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1243584"/>
            <a:ext cx="35661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6233A"/>
                </a:solidFill>
                <a:latin typeface="Meiryo"/>
                <a:ea typeface="メイリオ"/>
              </a:rPr>
              <a:t>到着 — 角の手前に立つだけ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88167" y="1207008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88167" y="1243584"/>
            <a:ext cx="10515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2分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64807" y="1700784"/>
            <a:ext cx="5038344" cy="3246120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64807" y="2889504"/>
            <a:ext cx="5038344" cy="777240"/>
          </a:xfrm>
          <a:prstGeom prst="rect">
            <a:avLst/>
          </a:prstGeom>
          <a:solidFill>
            <a:srgbClr val="DD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613648" y="1700784"/>
            <a:ext cx="777240" cy="3246120"/>
          </a:xfrm>
          <a:prstGeom prst="rect">
            <a:avLst/>
          </a:prstGeom>
          <a:solidFill>
            <a:srgbClr val="DD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64807" y="3666744"/>
            <a:ext cx="2148840" cy="1280160"/>
          </a:xfrm>
          <a:prstGeom prst="rect">
            <a:avLst/>
          </a:prstGeom>
          <a:solidFill>
            <a:srgbClr val="C2C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64807" y="3666744"/>
            <a:ext cx="5038344" cy="91440"/>
          </a:xfrm>
          <a:prstGeom prst="rect">
            <a:avLst/>
          </a:prstGeom>
          <a:solidFill>
            <a:srgbClr val="D9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93407" y="4123944"/>
            <a:ext cx="1828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3A4658"/>
                </a:solidFill>
                <a:latin typeface="Meiryo"/>
                <a:ea typeface="メイリオ"/>
              </a:rPr>
              <a:t>塀・建物</a:t>
            </a:r>
          </a:p>
        </p:txBody>
      </p:sp>
      <p:sp>
        <p:nvSpPr>
          <p:cNvPr id="34" name="Oval 33"/>
          <p:cNvSpPr/>
          <p:nvPr/>
        </p:nvSpPr>
        <p:spPr>
          <a:xfrm>
            <a:off x="9985248" y="3913632"/>
            <a:ext cx="365760" cy="365760"/>
          </a:xfrm>
          <a:prstGeom prst="ellipse">
            <a:avLst/>
          </a:prstGeom>
          <a:noFill/>
          <a:ln w="28575">
            <a:solidFill>
              <a:srgbClr val="E8A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076688" y="4005072"/>
            <a:ext cx="182880" cy="182880"/>
          </a:xfrm>
          <a:prstGeom prst="ellipse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42447" y="3913632"/>
            <a:ext cx="10515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233A"/>
                </a:solidFill>
                <a:latin typeface="Meiryo"/>
                <a:ea typeface="メイリオ"/>
              </a:rPr>
              <a:t>自分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6707F"/>
                </a:solidFill>
                <a:latin typeface="Meiryo"/>
                <a:ea typeface="メイリオ"/>
              </a:rPr>
              <a:t>（歩道）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390888" y="3986784"/>
            <a:ext cx="594360" cy="0"/>
          </a:xfrm>
          <a:prstGeom prst="line">
            <a:avLst/>
          </a:prstGeom>
          <a:ln w="22225">
            <a:solidFill>
              <a:srgbClr val="C443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390888" y="3895344"/>
            <a:ext cx="0" cy="182880"/>
          </a:xfrm>
          <a:prstGeom prst="line">
            <a:avLst/>
          </a:prstGeom>
          <a:ln w="22225">
            <a:solidFill>
              <a:srgbClr val="C443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116567" y="4398264"/>
            <a:ext cx="14630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C4432B"/>
                </a:solidFill>
                <a:latin typeface="Meiryo"/>
                <a:ea typeface="メイリオ"/>
              </a:rPr>
              <a:t>角から5〜10m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4807" y="5120640"/>
            <a:ext cx="5038344" cy="1234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A4658"/>
                </a:solidFill>
                <a:latin typeface="Meiryo"/>
                <a:ea typeface="メイリオ"/>
              </a:rPr>
              <a:t>ブロック塀のあるT字路・十字路の歩道が定位置。公道の歩道からの収録なので許可は不要（通行の邪魔にならない位置で）。協力者がいれば10m後ろ、いなくても成立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233A"/>
                </a:solidFill>
                <a:latin typeface="Meiryo"/>
                <a:ea typeface="メイリオ"/>
              </a:rPr>
              <a:t>付録：実録の流れ 2/3 — 現地は「儀式90秒 → 無言で待つ」だけ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463040" cy="41148"/>
          </a:xfrm>
          <a:prstGeom prst="rect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024128"/>
            <a:ext cx="5440680" cy="5440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152144"/>
            <a:ext cx="6858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B37E00"/>
                </a:solidFill>
                <a:latin typeface="Meiryo"/>
                <a:ea typeface="メイリオ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6152" y="1243584"/>
            <a:ext cx="35661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6233A"/>
                </a:solidFill>
                <a:latin typeface="Meiryo"/>
                <a:ea typeface="メイリオ"/>
              </a:rPr>
              <a:t>録音開始 — 90秒の儀式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27448" y="1207008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27448" y="1243584"/>
            <a:ext cx="10515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90秒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1700784"/>
            <a:ext cx="5038344" cy="3246120"/>
          </a:xfrm>
          <a:prstGeom prst="rect">
            <a:avLst/>
          </a:prstGeom>
          <a:solidFill>
            <a:srgbClr val="EF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1883664"/>
            <a:ext cx="1481328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93392"/>
            <a:ext cx="1335024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6233A"/>
                </a:solidFill>
                <a:latin typeface="Meiryo"/>
                <a:ea typeface="メイリオ"/>
              </a:rPr>
              <a:t>① 手拍子1回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32504"/>
            <a:ext cx="1335024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900" b="0">
                <a:solidFill>
                  <a:srgbClr val="66707F"/>
                </a:solidFill>
                <a:latin typeface="Meiryo"/>
                <a:ea typeface="メイリオ"/>
              </a:rPr>
              <a:t>時刻合わせの目印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87168" y="1883664"/>
            <a:ext cx="1481328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1993392"/>
            <a:ext cx="1335024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6233A"/>
                </a:solidFill>
                <a:latin typeface="Meiryo"/>
                <a:ea typeface="メイリオ"/>
              </a:rPr>
              <a:t>② 騒音計を読む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032504"/>
            <a:ext cx="1335024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900" b="0">
                <a:solidFill>
                  <a:srgbClr val="66707F"/>
                </a:solidFill>
                <a:latin typeface="Meiryo"/>
                <a:ea typeface="メイリオ"/>
              </a:rPr>
              <a:t>音量のものさし・小声で1分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83664"/>
            <a:ext cx="1481328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1993392"/>
            <a:ext cx="1335024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6233A"/>
                </a:solidFill>
                <a:latin typeface="Meiryo"/>
                <a:ea typeface="メイリオ"/>
              </a:rPr>
              <a:t>③ ベル4方位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032504"/>
            <a:ext cx="1335024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900" b="0">
                <a:solidFill>
                  <a:srgbClr val="66707F"/>
                </a:solidFill>
                <a:latin typeface="Meiryo"/>
                <a:ea typeface="メイリオ"/>
              </a:rPr>
              <a:t>マイクの向き合わせ・各1打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80744" y="3054096"/>
            <a:ext cx="402336" cy="402336"/>
          </a:xfrm>
          <a:prstGeom prst="line">
            <a:avLst/>
          </a:prstGeom>
          <a:ln w="50800">
            <a:solidFill>
              <a:srgbClr val="1623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380744" y="3054096"/>
            <a:ext cx="402336" cy="402336"/>
          </a:xfrm>
          <a:prstGeom prst="line">
            <a:avLst/>
          </a:prstGeom>
          <a:ln w="50800">
            <a:solidFill>
              <a:srgbClr val="1623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856231" y="2834640"/>
            <a:ext cx="128017" cy="109728"/>
          </a:xfrm>
          <a:prstGeom prst="line">
            <a:avLst/>
          </a:prstGeom>
          <a:ln w="31750">
            <a:solidFill>
              <a:srgbClr val="E8A2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911095" y="3127248"/>
            <a:ext cx="164593" cy="36576"/>
          </a:xfrm>
          <a:prstGeom prst="line">
            <a:avLst/>
          </a:prstGeom>
          <a:ln w="31750">
            <a:solidFill>
              <a:srgbClr val="E8A2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953512" y="2752344"/>
            <a:ext cx="548640" cy="10515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16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4951" y="2889504"/>
            <a:ext cx="365760" cy="292608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07791" y="289864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16233A"/>
                </a:solidFill>
                <a:latin typeface="Meiryo"/>
                <a:ea typeface="メイリオ"/>
              </a:rPr>
              <a:t>52.3</a:t>
            </a:r>
          </a:p>
        </p:txBody>
      </p:sp>
      <p:sp>
        <p:nvSpPr>
          <p:cNvPr id="26" name="Oval 25"/>
          <p:cNvSpPr/>
          <p:nvPr/>
        </p:nvSpPr>
        <p:spPr>
          <a:xfrm>
            <a:off x="4754880" y="3182112"/>
            <a:ext cx="237744" cy="237744"/>
          </a:xfrm>
          <a:prstGeom prst="ellipse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V="1">
            <a:off x="4873752" y="2798064"/>
            <a:ext cx="0" cy="276606"/>
          </a:xfrm>
          <a:prstGeom prst="line">
            <a:avLst/>
          </a:prstGeom>
          <a:ln w="38100">
            <a:solidFill>
              <a:srgbClr val="E8A2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809744" y="2432304"/>
            <a:ext cx="2743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66707F"/>
                </a:solidFill>
                <a:latin typeface="Meiryo"/>
                <a:ea typeface="メイリオ"/>
              </a:rPr>
              <a:t>前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100066" y="3300984"/>
            <a:ext cx="276606" cy="0"/>
          </a:xfrm>
          <a:prstGeom prst="line">
            <a:avLst/>
          </a:prstGeom>
          <a:ln w="38100">
            <a:solidFill>
              <a:srgbClr val="E8A2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40680" y="3191256"/>
            <a:ext cx="2743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66707F"/>
                </a:solidFill>
                <a:latin typeface="Meiryo"/>
                <a:ea typeface="メイリオ"/>
              </a:rPr>
              <a:t>右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873752" y="3527298"/>
            <a:ext cx="0" cy="276606"/>
          </a:xfrm>
          <a:prstGeom prst="line">
            <a:avLst/>
          </a:prstGeom>
          <a:ln w="38100">
            <a:solidFill>
              <a:srgbClr val="E8A2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809744" y="3867912"/>
            <a:ext cx="2743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66707F"/>
                </a:solidFill>
                <a:latin typeface="Meiryo"/>
                <a:ea typeface="メイリオ"/>
              </a:rPr>
              <a:t>後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4370832" y="3300984"/>
            <a:ext cx="276606" cy="0"/>
          </a:xfrm>
          <a:prstGeom prst="line">
            <a:avLst/>
          </a:prstGeom>
          <a:ln w="38100">
            <a:solidFill>
              <a:srgbClr val="E8A2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160520" y="3191256"/>
            <a:ext cx="2743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66707F"/>
                </a:solidFill>
                <a:latin typeface="Meiryo"/>
                <a:ea typeface="メイリオ"/>
              </a:rPr>
              <a:t>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5120640"/>
            <a:ext cx="5038344" cy="1234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A4658"/>
                </a:solidFill>
                <a:latin typeface="Meiryo"/>
                <a:ea typeface="メイリオ"/>
              </a:rPr>
              <a:t>声を出すのはこの90秒だけ。マイクは胸元にあるのでささやき声で足りる。1人のときはベルを置いて自分が90°ずつ回っても同じ効果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1024128"/>
            <a:ext cx="5440680" cy="5440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64807" y="1152144"/>
            <a:ext cx="6858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B37E00"/>
                </a:solidFill>
                <a:latin typeface="Meiryo"/>
                <a:ea typeface="メイリオ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76872" y="1243584"/>
            <a:ext cx="35661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6233A"/>
                </a:solidFill>
                <a:latin typeface="Meiryo"/>
                <a:ea typeface="メイリオ"/>
              </a:rPr>
              <a:t>本番 — 無言で待つだけ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488167" y="1207008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88167" y="1243584"/>
            <a:ext cx="10515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10秒×台数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64807" y="1700784"/>
            <a:ext cx="5038344" cy="3246120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64807" y="2889504"/>
            <a:ext cx="5038344" cy="777240"/>
          </a:xfrm>
          <a:prstGeom prst="rect">
            <a:avLst/>
          </a:prstGeom>
          <a:solidFill>
            <a:srgbClr val="DD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613648" y="1700784"/>
            <a:ext cx="777240" cy="3246120"/>
          </a:xfrm>
          <a:prstGeom prst="rect">
            <a:avLst/>
          </a:prstGeom>
          <a:solidFill>
            <a:srgbClr val="DD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86216" y="1792224"/>
            <a:ext cx="822960" cy="822960"/>
          </a:xfrm>
          <a:prstGeom prst="ellipse">
            <a:avLst/>
          </a:prstGeom>
          <a:noFill/>
          <a:ln w="22225">
            <a:solidFill>
              <a:srgbClr val="C44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66175" y="1472184"/>
            <a:ext cx="1463040" cy="1463040"/>
          </a:xfrm>
          <a:prstGeom prst="ellipse">
            <a:avLst/>
          </a:prstGeom>
          <a:noFill/>
          <a:ln w="22225">
            <a:solidFill>
              <a:srgbClr val="C44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900416" y="1106424"/>
            <a:ext cx="2194560" cy="2194560"/>
          </a:xfrm>
          <a:prstGeom prst="ellipse">
            <a:avLst/>
          </a:prstGeom>
          <a:noFill/>
          <a:ln w="22225">
            <a:solidFill>
              <a:srgbClr val="E096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759952" y="1856232"/>
            <a:ext cx="475488" cy="694944"/>
          </a:xfrm>
          <a:prstGeom prst="roundRect">
            <a:avLst>
              <a:gd name="adj" fmla="val 30000"/>
            </a:avLst>
          </a:prstGeom>
          <a:solidFill>
            <a:srgbClr val="C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390888" y="1700784"/>
            <a:ext cx="2112263" cy="1188720"/>
          </a:xfrm>
          <a:prstGeom prst="rect">
            <a:avLst/>
          </a:prstGeom>
          <a:solidFill>
            <a:srgbClr val="C2C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64807" y="1700784"/>
            <a:ext cx="2148840" cy="1188720"/>
          </a:xfrm>
          <a:prstGeom prst="rect">
            <a:avLst/>
          </a:prstGeom>
          <a:solidFill>
            <a:srgbClr val="C2C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64807" y="3666744"/>
            <a:ext cx="5038344" cy="91440"/>
          </a:xfrm>
          <a:prstGeom prst="rect">
            <a:avLst/>
          </a:prstGeom>
          <a:solidFill>
            <a:srgbClr val="D9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65208" y="2020824"/>
            <a:ext cx="173736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A4658"/>
                </a:solidFill>
                <a:latin typeface="Meiryo"/>
                <a:ea typeface="メイリオ"/>
              </a:rPr>
              <a:t>塀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3A4658"/>
                </a:solidFill>
                <a:latin typeface="Meiryo"/>
                <a:ea typeface="メイリオ"/>
              </a:rPr>
              <a:t>（車はまだ見えない）</a:t>
            </a:r>
          </a:p>
        </p:txBody>
      </p:sp>
      <p:sp>
        <p:nvSpPr>
          <p:cNvPr id="52" name="Oval 51"/>
          <p:cNvSpPr/>
          <p:nvPr/>
        </p:nvSpPr>
        <p:spPr>
          <a:xfrm>
            <a:off x="9985248" y="3913632"/>
            <a:ext cx="365760" cy="365760"/>
          </a:xfrm>
          <a:prstGeom prst="ellipse">
            <a:avLst/>
          </a:prstGeom>
          <a:noFill/>
          <a:ln w="28575">
            <a:solidFill>
              <a:srgbClr val="E8A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076688" y="4005072"/>
            <a:ext cx="182880" cy="182880"/>
          </a:xfrm>
          <a:prstGeom prst="ellipse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H="1" flipV="1">
            <a:off x="9134856" y="2478024"/>
            <a:ext cx="1033272" cy="1508760"/>
          </a:xfrm>
          <a:prstGeom prst="line">
            <a:avLst/>
          </a:prstGeom>
          <a:ln w="19050">
            <a:solidFill>
              <a:srgbClr val="6670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0076688" y="309067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6707F"/>
                </a:solidFill>
                <a:latin typeface="Meiryo"/>
                <a:ea typeface="メイリオ"/>
              </a:rPr>
              <a:t>視線は塀でブロック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47688" y="2999232"/>
            <a:ext cx="19202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C4432B"/>
                </a:solidFill>
                <a:latin typeface="Meiryo"/>
                <a:ea typeface="メイリオ"/>
              </a:rPr>
              <a:t>音だけが先に</a:t>
            </a:r>
          </a:p>
          <a:p>
            <a:pPr algn="l">
              <a:spcAft>
                <a:spcPts val="0"/>
              </a:spcAft>
            </a:pPr>
            <a:r>
              <a:rPr sz="1050" b="1">
                <a:solidFill>
                  <a:srgbClr val="C4432B"/>
                </a:solidFill>
                <a:latin typeface="Meiryo"/>
                <a:ea typeface="メイリオ"/>
              </a:rPr>
              <a:t>角を曲がって届く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42447" y="4215384"/>
            <a:ext cx="1051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66707F"/>
                </a:solidFill>
                <a:latin typeface="Meiryo"/>
                <a:ea typeface="メイリオ"/>
              </a:rPr>
              <a:t>無言で立つ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64807" y="5120640"/>
            <a:ext cx="5038344" cy="1234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A4658"/>
                </a:solidFill>
                <a:latin typeface="Meiryo"/>
                <a:ea typeface="メイリオ"/>
              </a:rPr>
              <a:t>録音は回しっぱなし。角の向こうの車は姿より先に音が届く——この10秒がそのまま1テイク。来た台数のぶんだけテイクが増える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233A"/>
                </a:solidFill>
                <a:latin typeface="Meiryo"/>
                <a:ea typeface="メイリオ"/>
              </a:rPr>
              <a:t>付録：実録の流れ 3/3 — 記録は1行、チェックは30秒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463040" cy="41148"/>
          </a:xfrm>
          <a:prstGeom prst="rect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024128"/>
            <a:ext cx="5440680" cy="5440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152144"/>
            <a:ext cx="6858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B37E00"/>
                </a:solidFill>
                <a:latin typeface="Meiryo"/>
                <a:ea typeface="メイリオ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6152" y="1243584"/>
            <a:ext cx="35661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6233A"/>
                </a:solidFill>
                <a:latin typeface="Meiryo"/>
                <a:ea typeface="メイリオ"/>
              </a:rPr>
              <a:t>通過直後 — ひとことメモ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27448" y="1207008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27448" y="1243584"/>
            <a:ext cx="10515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30秒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1700784"/>
            <a:ext cx="5038344" cy="3246120"/>
          </a:xfrm>
          <a:prstGeom prst="rect">
            <a:avLst/>
          </a:prstGeom>
          <a:solidFill>
            <a:srgbClr val="EF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1975104"/>
            <a:ext cx="2011680" cy="2697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6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64208" y="2084832"/>
            <a:ext cx="548640" cy="64008"/>
          </a:xfrm>
          <a:prstGeom prst="rect">
            <a:avLst/>
          </a:prstGeom>
          <a:solidFill>
            <a:srgbClr val="D9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2386584"/>
            <a:ext cx="173736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233A"/>
                </a:solidFill>
                <a:latin typeface="Meiryo"/>
                <a:ea typeface="メイリオ"/>
              </a:rPr>
              <a:t>「試行3終了。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6233A"/>
                </a:solidFill>
                <a:latin typeface="Meiryo"/>
                <a:ea typeface="メイリオ"/>
              </a:rPr>
              <a:t>車1台、右から、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6233A"/>
                </a:solidFill>
                <a:latin typeface="Meiryo"/>
                <a:ea typeface="メイリオ"/>
              </a:rPr>
              <a:t>徐行、横2mくらい」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66707F"/>
                </a:solidFill>
                <a:latin typeface="Meiryo"/>
                <a:ea typeface="メイリオ"/>
              </a:rPr>
              <a:t>と小声で吹き込む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3081528" y="3118104"/>
            <a:ext cx="384048" cy="384048"/>
          </a:xfrm>
          <a:prstGeom prst="triangle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84448" y="2478024"/>
            <a:ext cx="1965960" cy="1691640"/>
          </a:xfrm>
          <a:prstGeom prst="roundRect">
            <a:avLst>
              <a:gd name="adj" fmla="val 8000"/>
            </a:avLst>
          </a:prstGeom>
          <a:solidFill>
            <a:srgbClr val="EFEFEA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21608" y="2615184"/>
            <a:ext cx="1737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6233A"/>
                </a:solidFill>
                <a:latin typeface="Meiryo"/>
                <a:ea typeface="メイリオ"/>
              </a:rPr>
              <a:t>帰宅後、注釈CSVの1行に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2980944"/>
            <a:ext cx="173736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A4658"/>
                </a:solidFill>
                <a:latin typeface="Consolas"/>
              </a:rPr>
              <a:t>trial=3, class=車,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A4658"/>
                </a:solidFill>
                <a:latin typeface="Consolas"/>
              </a:rPr>
              <a:t>象限=右, 徐行,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A4658"/>
                </a:solidFill>
                <a:latin typeface="Consolas"/>
              </a:rPr>
              <a:t>横2m, LAeq=52.3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120640"/>
            <a:ext cx="5038344" cy="1234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A4658"/>
                </a:solidFill>
                <a:latin typeface="Meiryo"/>
                <a:ea typeface="メイリオ"/>
              </a:rPr>
              <a:t>しゃべってよいのは試行と試行の間だけ（試行中は無言）。この一言が正解ラベルになる——フレーム単位のx,y,z・距離の手入力はしない設計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024128"/>
            <a:ext cx="5440680" cy="5440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7" y="1152144"/>
            <a:ext cx="6858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B37E00"/>
                </a:solidFill>
                <a:latin typeface="Meiryo"/>
                <a:ea typeface="メイリオ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1243584"/>
            <a:ext cx="35661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6233A"/>
                </a:solidFill>
                <a:latin typeface="Meiryo"/>
                <a:ea typeface="メイリオ"/>
              </a:rPr>
              <a:t>撤収前チェック → 次の地点へ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88167" y="1207008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88167" y="1243584"/>
            <a:ext cx="10515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5分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64807" y="1700784"/>
            <a:ext cx="5038344" cy="3246120"/>
          </a:xfrm>
          <a:prstGeom prst="rect">
            <a:avLst/>
          </a:prstGeom>
          <a:solidFill>
            <a:srgbClr val="EF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693407" y="1975104"/>
            <a:ext cx="246888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2176272"/>
            <a:ext cx="2743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6707F"/>
                </a:solidFill>
                <a:latin typeface="Meiryo"/>
                <a:ea typeface="メイリオ"/>
              </a:rPr>
              <a:t>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23175" y="2537460"/>
            <a:ext cx="118872" cy="96012"/>
          </a:xfrm>
          <a:prstGeom prst="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42631" y="2427732"/>
            <a:ext cx="118872" cy="205739"/>
          </a:xfrm>
          <a:prstGeom prst="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62088" y="2496312"/>
            <a:ext cx="118872" cy="137160"/>
          </a:xfrm>
          <a:prstGeom prst="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81544" y="2345436"/>
            <a:ext cx="118872" cy="288036"/>
          </a:xfrm>
          <a:prstGeom prst="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01000" y="2455164"/>
            <a:ext cx="118872" cy="178308"/>
          </a:xfrm>
          <a:prstGeom prst="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0455" y="2318003"/>
            <a:ext cx="118872" cy="315468"/>
          </a:xfrm>
          <a:prstGeom prst="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39911" y="2427732"/>
            <a:ext cx="118872" cy="205739"/>
          </a:xfrm>
          <a:prstGeom prst="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59367" y="2523744"/>
            <a:ext cx="118872" cy="109728"/>
          </a:xfrm>
          <a:prstGeom prst="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78824" y="2386584"/>
            <a:ext cx="118872" cy="246888"/>
          </a:xfrm>
          <a:prstGeom prst="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93992" y="2798064"/>
            <a:ext cx="2743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6707F"/>
                </a:solidFill>
                <a:latin typeface="Meiryo"/>
                <a:ea typeface="メイリオ"/>
              </a:rPr>
              <a:t>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23175" y="3159252"/>
            <a:ext cx="118872" cy="96012"/>
          </a:xfrm>
          <a:prstGeom prst="rect">
            <a:avLst/>
          </a:prstGeom>
          <a:solidFill>
            <a:srgbClr val="3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42631" y="3049524"/>
            <a:ext cx="118872" cy="205739"/>
          </a:xfrm>
          <a:prstGeom prst="rect">
            <a:avLst/>
          </a:prstGeom>
          <a:solidFill>
            <a:srgbClr val="3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562088" y="3118104"/>
            <a:ext cx="118872" cy="137160"/>
          </a:xfrm>
          <a:prstGeom prst="rect">
            <a:avLst/>
          </a:prstGeom>
          <a:solidFill>
            <a:srgbClr val="3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81544" y="2967228"/>
            <a:ext cx="118872" cy="288036"/>
          </a:xfrm>
          <a:prstGeom prst="rect">
            <a:avLst/>
          </a:prstGeom>
          <a:solidFill>
            <a:srgbClr val="3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01000" y="3076956"/>
            <a:ext cx="118872" cy="178308"/>
          </a:xfrm>
          <a:prstGeom prst="rect">
            <a:avLst/>
          </a:prstGeom>
          <a:solidFill>
            <a:srgbClr val="3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20455" y="2939796"/>
            <a:ext cx="118872" cy="315468"/>
          </a:xfrm>
          <a:prstGeom prst="rect">
            <a:avLst/>
          </a:prstGeom>
          <a:solidFill>
            <a:srgbClr val="3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439911" y="3049524"/>
            <a:ext cx="118872" cy="205739"/>
          </a:xfrm>
          <a:prstGeom prst="rect">
            <a:avLst/>
          </a:prstGeom>
          <a:solidFill>
            <a:srgbClr val="3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659367" y="3145536"/>
            <a:ext cx="118872" cy="109728"/>
          </a:xfrm>
          <a:prstGeom prst="rect">
            <a:avLst/>
          </a:prstGeom>
          <a:solidFill>
            <a:srgbClr val="3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878824" y="3008376"/>
            <a:ext cx="118872" cy="246888"/>
          </a:xfrm>
          <a:prstGeom prst="rect">
            <a:avLst/>
          </a:prstGeom>
          <a:solidFill>
            <a:srgbClr val="3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93992" y="3419856"/>
            <a:ext cx="2743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6707F"/>
                </a:solidFill>
                <a:latin typeface="Meiryo"/>
                <a:ea typeface="メイリオ"/>
              </a:rPr>
              <a:t>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23175" y="3781044"/>
            <a:ext cx="118872" cy="96012"/>
          </a:xfrm>
          <a:prstGeom prst="rect">
            <a:avLst/>
          </a:prstGeom>
          <a:solidFill>
            <a:srgbClr val="B3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42631" y="3671316"/>
            <a:ext cx="118872" cy="205739"/>
          </a:xfrm>
          <a:prstGeom prst="rect">
            <a:avLst/>
          </a:prstGeom>
          <a:solidFill>
            <a:srgbClr val="B3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562088" y="3739896"/>
            <a:ext cx="118872" cy="137160"/>
          </a:xfrm>
          <a:prstGeom prst="rect">
            <a:avLst/>
          </a:prstGeom>
          <a:solidFill>
            <a:srgbClr val="B3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81544" y="3589020"/>
            <a:ext cx="118872" cy="288036"/>
          </a:xfrm>
          <a:prstGeom prst="rect">
            <a:avLst/>
          </a:prstGeom>
          <a:solidFill>
            <a:srgbClr val="B3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01000" y="3698748"/>
            <a:ext cx="118872" cy="178308"/>
          </a:xfrm>
          <a:prstGeom prst="rect">
            <a:avLst/>
          </a:prstGeom>
          <a:solidFill>
            <a:srgbClr val="B3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20455" y="3561588"/>
            <a:ext cx="118872" cy="315468"/>
          </a:xfrm>
          <a:prstGeom prst="rect">
            <a:avLst/>
          </a:prstGeom>
          <a:solidFill>
            <a:srgbClr val="B3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9911" y="3671316"/>
            <a:ext cx="118872" cy="205739"/>
          </a:xfrm>
          <a:prstGeom prst="rect">
            <a:avLst/>
          </a:prstGeom>
          <a:solidFill>
            <a:srgbClr val="B3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659367" y="3767328"/>
            <a:ext cx="118872" cy="109728"/>
          </a:xfrm>
          <a:prstGeom prst="rect">
            <a:avLst/>
          </a:prstGeom>
          <a:solidFill>
            <a:srgbClr val="B3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878824" y="3630168"/>
            <a:ext cx="118872" cy="246888"/>
          </a:xfrm>
          <a:prstGeom prst="rect">
            <a:avLst/>
          </a:prstGeom>
          <a:solidFill>
            <a:srgbClr val="B3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93992" y="4041648"/>
            <a:ext cx="2743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6707F"/>
                </a:solidFill>
                <a:latin typeface="Meiryo"/>
                <a:ea typeface="メイリオ"/>
              </a:rPr>
              <a:t>Z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23175" y="4402836"/>
            <a:ext cx="118872" cy="96012"/>
          </a:xfrm>
          <a:prstGeom prst="rect">
            <a:avLst/>
          </a:prstGeom>
          <a:solidFill>
            <a:srgbClr val="C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342631" y="4293108"/>
            <a:ext cx="118872" cy="205739"/>
          </a:xfrm>
          <a:prstGeom prst="rect">
            <a:avLst/>
          </a:prstGeom>
          <a:solidFill>
            <a:srgbClr val="C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562088" y="4361688"/>
            <a:ext cx="118872" cy="137160"/>
          </a:xfrm>
          <a:prstGeom prst="rect">
            <a:avLst/>
          </a:prstGeom>
          <a:solidFill>
            <a:srgbClr val="C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781544" y="4210812"/>
            <a:ext cx="118872" cy="288036"/>
          </a:xfrm>
          <a:prstGeom prst="rect">
            <a:avLst/>
          </a:prstGeom>
          <a:solidFill>
            <a:srgbClr val="C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001000" y="4320540"/>
            <a:ext cx="118872" cy="178308"/>
          </a:xfrm>
          <a:prstGeom prst="rect">
            <a:avLst/>
          </a:prstGeom>
          <a:solidFill>
            <a:srgbClr val="C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20455" y="4183380"/>
            <a:ext cx="118872" cy="315468"/>
          </a:xfrm>
          <a:prstGeom prst="rect">
            <a:avLst/>
          </a:prstGeom>
          <a:solidFill>
            <a:srgbClr val="C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439911" y="4293108"/>
            <a:ext cx="118872" cy="205739"/>
          </a:xfrm>
          <a:prstGeom prst="rect">
            <a:avLst/>
          </a:prstGeom>
          <a:solidFill>
            <a:srgbClr val="C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659367" y="4389120"/>
            <a:ext cx="118872" cy="109728"/>
          </a:xfrm>
          <a:prstGeom prst="rect">
            <a:avLst/>
          </a:prstGeom>
          <a:solidFill>
            <a:srgbClr val="C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878824" y="4251960"/>
            <a:ext cx="118872" cy="246888"/>
          </a:xfrm>
          <a:prstGeom prst="rect">
            <a:avLst/>
          </a:prstGeom>
          <a:solidFill>
            <a:srgbClr val="C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45167" y="2157984"/>
            <a:ext cx="2011680" cy="2377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6233A"/>
                </a:solidFill>
                <a:latin typeface="Meiryo"/>
                <a:ea typeface="メイリオ"/>
              </a:rPr>
              <a:t>イヤホンで30秒だけ再生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2F7D6D"/>
                </a:solidFill>
                <a:latin typeface="Meiryo"/>
                <a:ea typeface="メイリオ"/>
              </a:rPr>
              <a:t>✓ 4chすべて入っている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2F7D6D"/>
                </a:solidFill>
                <a:latin typeface="Meiryo"/>
                <a:ea typeface="メイリオ"/>
              </a:rPr>
              <a:t>✓ 音割れしていない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2F7D6D"/>
                </a:solidFill>
                <a:latin typeface="Meiryo"/>
                <a:ea typeface="メイリオ"/>
              </a:rPr>
              <a:t>✓ 手拍子・ベルが録れた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2F7D6D"/>
                </a:solidFill>
                <a:latin typeface="Meiryo"/>
                <a:ea typeface="メイリオ"/>
              </a:rPr>
              <a:t>OK → 次のピンへ移動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NG → その場で撮り直し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64807" y="5120640"/>
            <a:ext cx="5038344" cy="1234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A4658"/>
                </a:solidFill>
                <a:latin typeface="Meiryo"/>
                <a:ea typeface="メイリオ"/>
              </a:rPr>
              <a:t>「録れてなかった」で機材を借り直すのが一番高くつくので、その場で確認。1箇所15分×5箇所=半日で「角5本」完了。他のテイクもコマ2の場所が変わるだけ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