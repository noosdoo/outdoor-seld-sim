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9000" y="4038600"/>
            <a:ext cx="6604000" cy="200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6800" y="4114800"/>
            <a:ext cx="3810000" cy="254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232B3E"/>
                </a:solidFill>
                <a:latin typeface="Meiryo"/>
                <a:ea typeface="メイリオ"/>
              </a:rPr>
              <a:t>統制録音の幾何（上から見た図）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800" y="4470400"/>
            <a:ext cx="6248400" cy="558800"/>
          </a:xfrm>
          <a:prstGeom prst="rect">
            <a:avLst/>
          </a:prstGeom>
          <a:solidFill>
            <a:srgbClr val="E9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0" y="4597400"/>
            <a:ext cx="812800" cy="330200"/>
          </a:xfrm>
          <a:prstGeom prst="round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メイリオ"/>
              </a:rPr>
              <a:t>車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749800" y="4673600"/>
            <a:ext cx="381000" cy="165100"/>
          </a:xfrm>
          <a:prstGeom prst="rightArrow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0000" y="4191000"/>
            <a:ext cx="27940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速度：徐行〜約30km/h（台本）</a:t>
            </a:r>
          </a:p>
        </p:txBody>
      </p:sp>
      <p:sp>
        <p:nvSpPr>
          <p:cNvPr id="8" name="Oval 7"/>
          <p:cNvSpPr/>
          <p:nvPr/>
        </p:nvSpPr>
        <p:spPr>
          <a:xfrm>
            <a:off x="2286000" y="5537200"/>
            <a:ext cx="279400" cy="279400"/>
          </a:xfrm>
          <a:prstGeom prst="ellipse">
            <a:avLst/>
          </a:prstGeom>
          <a:noFill/>
          <a:ln w="2540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49500" y="5600700"/>
            <a:ext cx="152400" cy="152400"/>
          </a:xfrm>
          <a:prstGeom prst="ellipse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24000" y="5791200"/>
            <a:ext cx="2540000" cy="2032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歩行者（胸に4chマイク）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13000" y="5029200"/>
            <a:ext cx="15240" cy="508000"/>
          </a:xfrm>
          <a:prstGeom prst="rect">
            <a:avLst/>
          </a:prstGeom>
          <a:noFill/>
          <a:ln w="19050">
            <a:solidFill>
              <a:srgbClr val="C050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0000" y="5156200"/>
            <a:ext cx="2794000" cy="2032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C0503C"/>
                </a:solidFill>
                <a:latin typeface="Meiryo"/>
                <a:ea typeface="メイリオ"/>
              </a:rPr>
              <a:t>横距離 2・3・5m</a:t>
            </a:r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（コーンで実測）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133600" y="4953000"/>
            <a:ext cx="127000" cy="127000"/>
          </a:xfrm>
          <a:prstGeom prst="triangl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2717800" y="4953000"/>
            <a:ext cx="127000" cy="127000"/>
          </a:xfrm>
          <a:prstGeom prst="triangl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6800" y="6096000"/>
            <a:ext cx="6248400" cy="2032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8A8F9A"/>
                </a:solidFill>
                <a:latin typeface="Meiryo"/>
                <a:ea typeface="メイリオ"/>
              </a:rPr>
              <a:t>速度×横距離を台本で変えて反復 ＝ 合成シナリオと同じ条件を実環境で再現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47000" y="4038600"/>
            <a:ext cx="3683000" cy="200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47000" y="4038600"/>
            <a:ext cx="76200" cy="20066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5600" y="4140200"/>
            <a:ext cx="3302000" cy="254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232B3E"/>
                </a:solidFill>
                <a:latin typeface="Meiryo"/>
                <a:ea typeface="メイリオ"/>
              </a:rPr>
              <a:t>この測定で確かめること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5600" y="4470400"/>
            <a:ext cx="3327400" cy="1524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0A526"/>
                </a:solidFill>
                <a:latin typeface="Meiryo"/>
                <a:ea typeface="メイリオ"/>
              </a:rPr>
              <a:t>① </a:t>
            </a: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合成で測った検出・方向・距離の性能が実環境でどれだけ保たれるか</a:t>
            </a:r>
          </a:p>
          <a:p>
            <a:pPr algn="l"/>
            <a:r>
              <a:rPr sz="1100" b="1">
                <a:solidFill>
                  <a:srgbClr val="E0A526"/>
                </a:solidFill>
                <a:latin typeface="Meiryo"/>
                <a:ea typeface="メイリオ"/>
              </a:rPr>
              <a:t>② </a:t>
            </a: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誤警告が1時間あたり何回出るか（負例）</a:t>
            </a:r>
          </a:p>
          <a:p>
            <a:pPr algn="l"/>
            <a:r>
              <a:rPr sz="1100" b="1">
                <a:solidFill>
                  <a:srgbClr val="E0A526"/>
                </a:solidFill>
                <a:latin typeface="Meiryo"/>
                <a:ea typeface="メイリオ"/>
              </a:rPr>
              <a:t>③ </a:t>
            </a: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切り分け実験（前頁）各版の共通試験になる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