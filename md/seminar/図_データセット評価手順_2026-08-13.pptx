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spc="250">
                <a:solidFill>
                  <a:srgbClr val="222838"/>
                </a:solidFill>
                <a:latin typeface="Meiryo"/>
                <a:ea typeface="メイリオ"/>
              </a:rPr>
              <a:t>検証の前に — データセットと評価手順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9000" y="1498600"/>
          <a:ext cx="10414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4572000"/>
                <a:gridCol w="4064000"/>
              </a:tblGrid>
              <a:tr h="635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区分</a:t>
                      </a:r>
                    </a:p>
                  </a:txBody>
                  <a:tcPr marT="63500" marB="63500" marL="101600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中身</a:t>
                      </a:r>
                    </a:p>
                  </a:txBody>
                  <a:tcPr marT="63500" marB="63500" marL="101600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本研究での役割</a:t>
                      </a:r>
                    </a:p>
                  </a:txBody>
                  <a:tcPr marT="63500" marB="63500" marL="101600">
                    <a:solidFill>
                      <a:srgbClr val="EFEFE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事前学習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1,167時間・170クラス（PSELDNets付属）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出発点の基盤モデル（既存を利用）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学習（微調整）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本研究の合成10,200クリップ（8クラス・約28時間）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距離ヘッド込みで全体をファインチューニング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検証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学習と同一方式の別クリップ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モデル選択・通知閾値の決定（発表数値には不使用）</a:t>
                      </a:r>
                    </a:p>
                  </a:txBody>
                  <a:tcPr marT="63500" marB="63500" marL="10160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22838"/>
                          </a:solidFill>
                          <a:latin typeface="Meiryo"/>
                          <a:ea typeface="メイリオ"/>
                        </a:rPr>
                        <a:t>評価</a:t>
                      </a:r>
                    </a:p>
                  </a:txBody>
                  <a:tcPr marT="63500" marB="63500" marL="101600">
                    <a:solidFill>
                      <a:srgbClr val="FBF4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同一設計・新乱数の1,800クリップ（学習・検証に未使用）</a:t>
                      </a:r>
                    </a:p>
                  </a:txBody>
                  <a:tcPr marT="63500" marB="63500" marL="101600">
                    <a:solidFill>
                      <a:srgbClr val="FBF4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95F6E"/>
                          </a:solidFill>
                          <a:latin typeface="Meiryo"/>
                          <a:ea typeface="メイリオ"/>
                        </a:rPr>
                        <a:t>最終結果の測定 — 1回だけ採点</a:t>
                      </a:r>
                    </a:p>
                  </a:txBody>
                  <a:tcPr marT="63500" marB="63500" marL="101600">
                    <a:solidFill>
                      <a:srgbClr val="FBF4D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9000" y="5029200"/>
            <a:ext cx="76200" cy="787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5200" y="5029200"/>
            <a:ext cx="103378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3800" y="5130800"/>
            <a:ext cx="9906000" cy="584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基準を先に決める → 未使用データを新たに生成 → 1回だけ評価</a:t>
            </a:r>
            <a:r>
              <a:rPr sz="1300" b="0">
                <a:solidFill>
                  <a:srgbClr val="595F6E"/>
                </a:solidFill>
                <a:latin typeface="Meiryo"/>
                <a:ea typeface="メイリオ"/>
              </a:rPr>
              <a:t>　＝ 答案を見てから基準を変えられない手順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